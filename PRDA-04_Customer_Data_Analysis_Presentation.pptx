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517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5B4FC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B9AEE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9AEEA"/>
                </a:solidFill>
              </a:rPr>
              <a:t>PRDA – 04   |   DATA ANALYST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 Analysis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CD8F5"/>
                </a:solidFill>
              </a:rPr>
              <a:t>Shopping behavior across 10 malls in Istanbul (2021–2023), analyzed using Power BI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5074920"/>
            <a:ext cx="2011680" cy="0"/>
          </a:xfrm>
          <a:prstGeom prst="line">
            <a:avLst/>
          </a:prstGeom>
          <a:noFill/>
          <a:ln w="31750">
            <a:solidFill>
              <a:srgbClr val="EC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257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AEEA"/>
                </a:solidFill>
              </a:rPr>
              <a:t>Prepared by: </a:t>
            </a:r>
            <a:r>
              <a:rPr lang="en-US" sz="1500" b="1" dirty="0" smtClean="0">
                <a:solidFill>
                  <a:srgbClr val="FFFFFF"/>
                </a:solidFill>
              </a:rPr>
              <a:t>Samarth </a:t>
            </a:r>
            <a:r>
              <a:rPr lang="en-US" sz="1500" b="1" dirty="0" err="1" smtClean="0">
                <a:solidFill>
                  <a:srgbClr val="FFFFFF"/>
                </a:solidFill>
              </a:rPr>
              <a:t>Kawade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4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analysis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5F4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Dataset 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85"/>
                </a:solidFill>
              </a:rPr>
              <a:t>Scale of data and key headline metrics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5F4FC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810512"/>
            <a:ext cx="457200" cy="457200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17373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Gender Analysis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21488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85"/>
                </a:solidFill>
              </a:rPr>
              <a:t>Who shops more, buys more, and spends more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5F4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456432"/>
            <a:ext cx="457200" cy="457200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383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Age Group Analysis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7947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85"/>
                </a:solidFill>
              </a:rPr>
              <a:t>Which age segment drives the business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20040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5F4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3456432"/>
            <a:ext cx="457200" cy="457200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3383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Category Analysis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7947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85"/>
                </a:solidFill>
              </a:rPr>
              <a:t>Best and worst performing product categories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5F4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102352"/>
            <a:ext cx="457200" cy="457200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102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50292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Payment Method Analysis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54406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85"/>
                </a:solidFill>
              </a:rPr>
              <a:t>How customers pay, and where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484632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5F4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537960" y="5102352"/>
            <a:ext cx="457200" cy="457200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5102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78040" y="50292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Key Insights &amp; Recommendations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54406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85"/>
                </a:solidFill>
              </a:rPr>
              <a:t>What the data means for the business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4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14387" y="1335024"/>
            <a:ext cx="9132746" cy="5193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roject/img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963" y="1371600"/>
            <a:ext cx="9059594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4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5F4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4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304288"/>
            <a:ext cx="2286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087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5F4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6002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C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29000" y="2304288"/>
            <a:ext cx="2286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Quantity Sold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5F4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16002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₺252M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72200" y="2304288"/>
            <a:ext cx="2286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5087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5F4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6002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₺2.53K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915400" y="2304288"/>
            <a:ext cx="2286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Order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Coverage: </a:t>
            </a:r>
            <a:r>
              <a:rPr lang="en-US" sz="1400" dirty="0">
                <a:solidFill>
                  <a:srgbClr val="6B6B85"/>
                </a:solidFill>
              </a:rPr>
              <a:t>10 shopping malls across Istanbul, transactions recorded from 2021 to 2023 (2023 data spans January–March only).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A6E"/>
                </a:solidFill>
              </a:rPr>
              <a:t>Fields tracked per transaction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4251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</a:rPr>
              <a:t>Invoice No. &amp; Customer ID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06240" y="4251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</a:rPr>
              <a:t>Gender &amp; 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863840" y="4251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</a:rPr>
              <a:t>Product Category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</a:rPr>
              <a:t>Quantity &amp; Price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206240" y="4754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</a:rPr>
              <a:t>Payment Method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0" y="4754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</a:rPr>
              <a:t>Invoice Date &amp; Shopping Mall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4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GENDER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Gender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14387" y="1335024"/>
            <a:ext cx="9132746" cy="5193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roject/img_g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963" y="1371600"/>
            <a:ext cx="9059594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4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GENDER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gender data tells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5F4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C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59.81%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198218"/>
            <a:ext cx="310896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Transactions (59K)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0" y="150876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5F4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16002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C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51960" y="2198218"/>
            <a:ext cx="310896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Revenue (₺)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150876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5F4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18120" y="1600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C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18120" y="2198218"/>
            <a:ext cx="365760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Quantity Purchased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5F4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29718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40.19%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" y="3569818"/>
            <a:ext cx="310896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Transactions (40K)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288036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5F4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51960" y="29718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251960" y="3569818"/>
            <a:ext cx="310896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Revenue (₺)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0" y="288036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5F4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18120" y="2971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818120" y="3569818"/>
            <a:ext cx="365760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Quantity Purchased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5F4F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4988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4FCF"/>
                </a:solidFill>
              </a:rPr>
              <a:t>Takeaway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</a:rPr>
              <a:t>Female customers dominate across every measure — transactions, quantity, and revenue — and lead in every product category and payment method. They generate roughly 60% of total revenue, almost 1.5x the contribution of male customers.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4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AGE GROUP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Age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14387" y="1335024"/>
            <a:ext cx="9132746" cy="5193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roject/img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963" y="1371600"/>
            <a:ext cx="9059594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4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AGE GROUP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 data tells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2103120"/>
          </a:xfrm>
          <a:prstGeom prst="roundRect">
            <a:avLst>
              <a:gd name="adj" fmla="val 3043"/>
            </a:avLst>
          </a:prstGeom>
          <a:solidFill>
            <a:srgbClr val="F5F4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25K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5"/>
                </a:solidFill>
              </a:rPr>
              <a:t>18–30 transactions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75K units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₺63M revenue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560320" cy="2103120"/>
          </a:xfrm>
          <a:prstGeom prst="roundRect">
            <a:avLst>
              <a:gd name="adj" fmla="val 3043"/>
            </a:avLst>
          </a:prstGeom>
          <a:solidFill>
            <a:srgbClr val="F5F4FC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645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4FCF"/>
                </a:solidFill>
              </a:rPr>
              <a:t>29K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5"/>
                </a:solidFill>
              </a:rPr>
              <a:t>31–45 transactions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606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87K units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₺73M revenue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560320" cy="2103120"/>
          </a:xfrm>
          <a:prstGeom prst="roundRect">
            <a:avLst>
              <a:gd name="adj" fmla="val 3043"/>
            </a:avLst>
          </a:prstGeom>
          <a:solidFill>
            <a:srgbClr val="F5F4F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645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28K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1792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5"/>
                </a:solidFill>
              </a:rPr>
              <a:t>46–60 transactions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606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85K units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1792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₺72M revenue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778240" y="1508760"/>
            <a:ext cx="2560320" cy="2103120"/>
          </a:xfrm>
          <a:prstGeom prst="roundRect">
            <a:avLst>
              <a:gd name="adj" fmla="val 3043"/>
            </a:avLst>
          </a:prstGeom>
          <a:solidFill>
            <a:srgbClr val="F5F4FC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0" y="1645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17K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96112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5"/>
                </a:solidFill>
              </a:rPr>
              <a:t>60+ transactions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0" y="2606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52K units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6112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₺44M revenue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F5F4FC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041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4FCF"/>
                </a:solidFill>
              </a:rPr>
              <a:t>Takeaway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4389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</a:rPr>
              <a:t>The 31–45 age group leads on every metric — transactions, quantity, and revenue — closely followed by 46–60. Clothing dominates spend across all age brackets. The 60+ segment trails significantly on every measure, making it the most under-monetized group and the clearest growth opportunity.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4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— CATEGORY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Category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14387" y="1335024"/>
            <a:ext cx="9132746" cy="5193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roject/img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963" y="1371600"/>
            <a:ext cx="9059594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4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— CATEGORY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category data tells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5F4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4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45.33%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251253"/>
            <a:ext cx="324612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total revenue comes from Clothing (₺114M)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5087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5F4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16002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C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2251253"/>
            <a:ext cx="324612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 in Clothing — more than 2x any other category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5087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5F4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92440" y="16002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₺58M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092440" y="2251253"/>
            <a:ext cx="324612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revenue from only 30K units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11064240" cy="2743200"/>
          </a:xfrm>
          <a:prstGeom prst="roundRect">
            <a:avLst>
              <a:gd name="adj" fmla="val 2000"/>
            </a:avLst>
          </a:prstGeom>
          <a:solidFill>
            <a:srgbClr val="F5F4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4FCF"/>
                </a:solidFill>
              </a:rPr>
              <a:t>Takeaway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</a:rPr>
              <a:t>Clothing dominates both revenue and volume, contributing nearly half of all revenue and over 100K units sold — more than double the next-highest category. Technology stands out differently: despite a relatively low transaction count (30K units), it generates ₺58M in revenue, indicating a much higher average price per unit than any other category. The long tail — Cosmetics, Toys, Food &amp; Beverage, Books, and Souvenirs — contributes only a small fraction of total revenue, with each falling below ₺10M.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4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— PAYMENT METHOD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Payments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14387" y="1335024"/>
            <a:ext cx="9132746" cy="5193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roject/img_pay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963" y="1371600"/>
            <a:ext cx="9059594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4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— PAYMENT METHOD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payment data tells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5F4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44.69%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251253"/>
            <a:ext cx="324612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(44K transactions / ₺113M)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5087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5F4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16002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2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35.12%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2251253"/>
            <a:ext cx="324612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(35K / ₺88M)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5087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5F4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92440" y="16002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20.19%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092440" y="2251253"/>
            <a:ext cx="324612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Debit Card (20K / ₺51M)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11064240" cy="2743200"/>
          </a:xfrm>
          <a:prstGeom prst="roundRect">
            <a:avLst>
              <a:gd name="adj" fmla="val 2000"/>
            </a:avLst>
          </a:prstGeom>
          <a:solidFill>
            <a:srgbClr val="F5F4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4FCF"/>
                </a:solidFill>
              </a:rPr>
              <a:t>Takeaway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</a:rPr>
              <a:t>Cash is the most preferred payment method, used in nearly 45% of transactions and generating the highest revenue (₺113M) of the three methods. This pattern holds consistently across every age group and both genders — Cash leads everywhere, followed by Credit Card and then Debit Card. The 60+ age group shows the lowest usage across all three payment types, reflecting its lower overall transaction volume rather than a distinct payment preference.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4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Insights &amp; Suggestions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14387" y="1335024"/>
            <a:ext cx="9132746" cy="5193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roject/img_ins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963" y="1371600"/>
            <a:ext cx="9059594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4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011680"/>
          </a:xfrm>
          <a:prstGeom prst="roundRect">
            <a:avLst>
              <a:gd name="adj" fmla="val 3182"/>
            </a:avLst>
          </a:prstGeom>
          <a:solidFill>
            <a:srgbClr val="F5F4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276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B4FCF"/>
                </a:solidFill>
              </a:rPr>
              <a:t>60%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Female customers lead across all dimensions — 60% of transactions, revenue &amp; quantity — and outspend males in every category including Technology (₺35M vs ₺23M)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20440" cy="2011680"/>
          </a:xfrm>
          <a:prstGeom prst="roundRect">
            <a:avLst>
              <a:gd name="adj" fmla="val 3182"/>
            </a:avLst>
          </a:prstGeom>
          <a:solidFill>
            <a:srgbClr val="F5F4FC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6276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B4FCF"/>
                </a:solidFill>
              </a:rPr>
              <a:t>45%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26280" y="22402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Clothing dominates across all genders and age groups — females drive ₺68M, and 31–45 segment alone contributes ₺33M; it is a universal demand driver, not a niche preference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20440" cy="2011680"/>
          </a:xfrm>
          <a:prstGeom prst="roundRect">
            <a:avLst>
              <a:gd name="adj" fmla="val 3182"/>
            </a:avLst>
          </a:prstGeom>
          <a:solidFill>
            <a:srgbClr val="F5F4FC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6276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B4FCF"/>
                </a:solidFill>
              </a:rPr>
              <a:t>31–45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75320" y="22402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31–45 and 46–60 segments together account for 57% of transactions and 58% of revenue — the mid-life demographic is the commercial backbone of all 10 malls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520440" cy="2011680"/>
          </a:xfrm>
          <a:prstGeom prst="roundRect">
            <a:avLst>
              <a:gd name="adj" fmla="val 3182"/>
            </a:avLst>
          </a:prstGeom>
          <a:solidFill>
            <a:srgbClr val="F5F4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67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B4FCF"/>
                </a:solidFill>
              </a:rPr>
              <a:t>44%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77240" y="448056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Cash dominates uniformly — it leads across every age group and gender, signalling a structural habit; shifting 20% of this to card would unlock ₺22M+ in traceable digital transactions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3703320"/>
            <a:ext cx="3520440" cy="2011680"/>
          </a:xfrm>
          <a:prstGeom prst="roundRect">
            <a:avLst>
              <a:gd name="adj" fmla="val 3182"/>
            </a:avLst>
          </a:prstGeom>
          <a:solidFill>
            <a:srgbClr val="F5F4FC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867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B4FCF"/>
                </a:solidFill>
              </a:rPr>
              <a:t>₺58M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26280" y="448056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Technology earns ~4x revenue per unit vs Clothing; a 10% volume increase would add ~₺5.8M — the highest-return expansion opportunity per incremental transaction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703320"/>
            <a:ext cx="3520440" cy="2011680"/>
          </a:xfrm>
          <a:prstGeom prst="roundRect">
            <a:avLst>
              <a:gd name="adj" fmla="val 3182"/>
            </a:avLst>
          </a:prstGeom>
          <a:solidFill>
            <a:srgbClr val="F5F4FC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867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B4FCF"/>
                </a:solidFill>
              </a:rPr>
              <a:t>17%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275320" y="448056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60+ segment is 40% below peak-age spend; low payment activity across all 3 methods confirms infrequent visits (not low spend-per-visit) as the core gap — a 20% visit increase = ~₺8.8M additional revenue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4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to the Company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5F4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09928"/>
            <a:ext cx="411480" cy="411480"/>
          </a:xfrm>
          <a:prstGeom prst="ellipse">
            <a:avLst/>
          </a:prstGeom>
          <a:solidFill>
            <a:srgbClr val="EC1E8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9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459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</a:rPr>
              <a:t>Target Female 31–45 Segment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25880" y="203911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</a:rPr>
              <a:t>Tiered loyalty card for Clothing &amp; Shoes; exclusive January campaigns (peak month); VIP events at Mall of Istanbul — protecting the highest-value segment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5F4FC"/>
          </a:solidFill>
          <a:ln/>
        </p:spPr>
      </p:sp>
      <p:sp>
        <p:nvSpPr>
          <p:cNvPr id="10" name="Shape 8"/>
          <p:cNvSpPr/>
          <p:nvPr/>
        </p:nvSpPr>
        <p:spPr>
          <a:xfrm>
            <a:off x="6373368" y="1709928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709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16459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</a:rPr>
              <a:t>Promote Digital Payments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49440" y="203911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</a:rPr>
              <a:t>5–8% cashback on cards for Clothing &amp; Technology; co-branded mall credit card; contactless terminals at top malls — target: shift cash share from 45% to 35%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5F4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218688"/>
            <a:ext cx="411480" cy="411480"/>
          </a:xfrm>
          <a:prstGeom prst="ellipse">
            <a:avLst/>
          </a:prstGeom>
          <a:solidFill>
            <a:srgbClr val="EC1E8C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2186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1546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</a:rPr>
              <a:t>Expand Technology Inventory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25880" y="354787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</a:rPr>
              <a:t>Expand premium tech (smartphones, wearables); add experiential trial zones; offer card-linked instalment plans — 10% volume increase = ~₺5.8M additional revenue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01752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5F4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73368" y="3218688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2186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31546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</a:rPr>
              <a:t>Engage Senior Customers (60+)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49440" y="354787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</a:rPr>
              <a:t>Dedicated senior hours with assisted checkout; 10–15% senior discount card; wellness events in malls — 20% visit increase = ~₺8.8M incremental revenue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5F4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727448"/>
            <a:ext cx="411480" cy="411480"/>
          </a:xfrm>
          <a:prstGeom prst="ellipse">
            <a:avLst/>
          </a:prstGeom>
          <a:solidFill>
            <a:srgbClr val="EC1E8C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727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25880" y="4663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</a:rPr>
              <a:t>Focus on Mall of Istanbul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25880" y="505663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</a:rPr>
              <a:t>Use as pilot site for all new campaigns before network rollout; premium merchandising in Clothing &amp; Tech; analyse foot-traffic to deploy targeted off-peak promotions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52628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5F4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373368" y="4727448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4727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49440" y="4663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</a:rPr>
              <a:t>Boost Food &amp; Beverage Sales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949440" y="505663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</a:rPr>
              <a:t>Bundle F&amp;B vouchers with Clothing purchases over ₺500; weekend family meal deals for 31–45 segment; relocate food courts to higher-visibility corridors — 30% lift = ~₺1.2M additional revenue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2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5B4FC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B9AEE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CD8F5"/>
                </a:solidFill>
              </a:rPr>
              <a:t>Female customers aged 31–45 are the core revenue-generating segment. Clothing leads as the top category and Cash remains the dominant payment method across demographics. Targeted growth in the 60+ segment and Food &amp; Beverage category represents the biggest untapped opportunity.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2011680" cy="0"/>
          </a:xfrm>
          <a:prstGeom prst="line">
            <a:avLst/>
          </a:prstGeom>
          <a:noFill/>
          <a:ln w="31750">
            <a:solidFill>
              <a:srgbClr val="EC1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114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Thank You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AEEA"/>
                </a:solidFill>
              </a:rPr>
              <a:t>Prepared by Samarth  </a:t>
            </a:r>
            <a:r>
              <a:rPr lang="en-US" sz="1300" dirty="0" err="1" smtClean="0">
                <a:solidFill>
                  <a:srgbClr val="B9AEEA"/>
                </a:solidFill>
              </a:rPr>
              <a:t>Kawade</a:t>
            </a:r>
            <a:r>
              <a:rPr lang="en-US" sz="1300" dirty="0" smtClean="0">
                <a:solidFill>
                  <a:srgbClr val="B9AEEA"/>
                </a:solidFill>
              </a:rPr>
              <a:t> </a:t>
            </a:r>
            <a:r>
              <a:rPr lang="en-US" sz="1300" dirty="0" smtClean="0">
                <a:solidFill>
                  <a:srgbClr val="B9AEEA"/>
                </a:solidFill>
              </a:rPr>
              <a:t>|  </a:t>
            </a:r>
            <a:r>
              <a:rPr lang="en-US" sz="1300" dirty="0">
                <a:solidFill>
                  <a:srgbClr val="B9AEEA"/>
                </a:solidFill>
              </a:rPr>
              <a:t>Power BI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1179</Words>
  <Application>Microsoft Office PowerPoint</Application>
  <PresentationFormat>Widescreen</PresentationFormat>
  <Paragraphs>178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Data Analysis - PRDA 04</dc:title>
  <dc:subject>PptxGenJS Presentation</dc:subject>
  <dc:creator>Samarth</dc:creator>
  <cp:lastModifiedBy>Admin</cp:lastModifiedBy>
  <cp:revision>2</cp:revision>
  <dcterms:created xsi:type="dcterms:W3CDTF">2026-06-17T07:39:57Z</dcterms:created>
  <dcterms:modified xsi:type="dcterms:W3CDTF">2026-06-17T09:12:50Z</dcterms:modified>
</cp:coreProperties>
</file>